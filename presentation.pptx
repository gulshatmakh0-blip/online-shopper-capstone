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70a68bf9194412" /><Relationship Type="http://schemas.openxmlformats.org/officeDocument/2006/relationships/extended-properties" Target="/docProps/app.xml" Id="Rcd0135c0af914141" /><Relationship Type="http://schemas.openxmlformats.org/officeDocument/2006/relationships/officeDocument" Target="/ppt/presentation.xml" Id="Rb5e87cc52ee049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08b7a9a2844540"/>
  </p:sldMasterIdLst>
  <p:notesMasterIdLst>
    <p:notesMasterId xmlns:r="http://schemas.openxmlformats.org/officeDocument/2006/relationships" r:id="R6e0450596be5439b"/>
  </p:notesMasterIdLst>
  <p:sldIdLst>
    <p:sldId xmlns:r="http://schemas.openxmlformats.org/officeDocument/2006/relationships" id="256" r:id="R2415bc929fab4ae5"/>
    <p:sldId xmlns:r="http://schemas.openxmlformats.org/officeDocument/2006/relationships" id="257" r:id="Redf10ecfa5f54eba"/>
    <p:sldId xmlns:r="http://schemas.openxmlformats.org/officeDocument/2006/relationships" id="258" r:id="Rc6d6b53bd9b145ca"/>
    <p:sldId xmlns:r="http://schemas.openxmlformats.org/officeDocument/2006/relationships" id="259" r:id="Rfd419852725142ee"/>
    <p:sldId xmlns:r="http://schemas.openxmlformats.org/officeDocument/2006/relationships" id="260" r:id="Rabe0d4d433994541"/>
    <p:sldId xmlns:r="http://schemas.openxmlformats.org/officeDocument/2006/relationships" id="261" r:id="R59b2594523e442f5"/>
    <p:sldId xmlns:r="http://schemas.openxmlformats.org/officeDocument/2006/relationships" id="262" r:id="Redf9dd0c967645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bce922c49f4c26" /><Relationship Type="http://schemas.openxmlformats.org/officeDocument/2006/relationships/slideMaster" Target="/ppt/slideMasters/slideMaster1.xml" Id="R1508b7a9a2844540" /><Relationship Type="http://schemas.openxmlformats.org/officeDocument/2006/relationships/notesMaster" Target="/ppt/notesMasters/notesMaster1.xml" Id="R6e0450596be5439b" /><Relationship Type="http://schemas.openxmlformats.org/officeDocument/2006/relationships/presProps" Target="/ppt/presProps.xml" Id="R6537174e0c854c18" /><Relationship Type="http://schemas.openxmlformats.org/officeDocument/2006/relationships/tableStyles" Target="/ppt/tableStyles.xml" Id="Rdb4a73c241464375" /><Relationship Type="http://schemas.openxmlformats.org/officeDocument/2006/relationships/slide" Target="/ppt/slides/slide1.xml" Id="R2415bc929fab4ae5" /><Relationship Type="http://schemas.openxmlformats.org/officeDocument/2006/relationships/slide" Target="/ppt/slides/slide2.xml" Id="Redf10ecfa5f54eba" /><Relationship Type="http://schemas.openxmlformats.org/officeDocument/2006/relationships/slide" Target="/ppt/slides/slide3.xml" Id="Rc6d6b53bd9b145ca" /><Relationship Type="http://schemas.openxmlformats.org/officeDocument/2006/relationships/slide" Target="/ppt/slides/slide4.xml" Id="Rfd419852725142ee" /><Relationship Type="http://schemas.openxmlformats.org/officeDocument/2006/relationships/slide" Target="/ppt/slides/slide5.xml" Id="Rabe0d4d433994541" /><Relationship Type="http://schemas.openxmlformats.org/officeDocument/2006/relationships/slide" Target="/ppt/slides/slide6.xml" Id="R59b2594523e442f5" /><Relationship Type="http://schemas.openxmlformats.org/officeDocument/2006/relationships/slide" Target="/ppt/slides/slide7.xml" Id="Redf9dd0c967645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095cc793bd4a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ce8cb4b7304b40" /><Relationship Type="http://schemas.openxmlformats.org/officeDocument/2006/relationships/notesMaster" Target="/ppt/notesMasters/notesMaster1.xml" Id="Rc2a15f12347843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49618f1b0a4c3f" /><Relationship Type="http://schemas.openxmlformats.org/officeDocument/2006/relationships/notesMaster" Target="/ppt/notesMasters/notesMaster1.xml" Id="R5384b6e0ddd242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6979e69e164343" /><Relationship Type="http://schemas.openxmlformats.org/officeDocument/2006/relationships/notesMaster" Target="/ppt/notesMasters/notesMaster1.xml" Id="Rb04ffbdeb60d4a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f085e905d64c23" /><Relationship Type="http://schemas.openxmlformats.org/officeDocument/2006/relationships/notesMaster" Target="/ppt/notesMasters/notesMaster1.xml" Id="R26444e5e0e5143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03ae46ca244a8a" /><Relationship Type="http://schemas.openxmlformats.org/officeDocument/2006/relationships/notesMaster" Target="/ppt/notesMasters/notesMaster1.xml" Id="R458be2a890a84a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c27fd1aa7b473c" /><Relationship Type="http://schemas.openxmlformats.org/officeDocument/2006/relationships/notesMaster" Target="/ppt/notesMasters/notesMaster1.xml" Id="R0f3f2aa297d341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5f11a0c7a4435d" /><Relationship Type="http://schemas.openxmlformats.org/officeDocument/2006/relationships/notesMaster" Target="/ppt/notesMasters/notesMaster1.xml" Id="Rc0020392c66a4b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0:00–0:45. Представь тему и себя. Цель — проверить возможность выделять посещения с высокой склонностью к покупке. Укажи, что использовала ИИ-помощника при подготовке и изучила решения.</a:t>
            </a:r>
          </a:p>
          <a:p xmlns:a="http://schemas.openxmlformats.org/drawingml/2006/main">
            <a:r>
              <a:t>Источник данных: Sakar &amp; Kastro (2018), UCI, https://doi.org/10.24432/C5F88Q, CC BY 4.0. Числа: results/metrics.csv и summary.json,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0:45–2:00. Объясни аналитическую сегментацию. Критерий успеха учебного прототипа: lift &gt; 1.5. У агрегатов завершённой сессии есть ограничение: нельзя обещать ранний прогноз. PageValues связан с транзакциями, но утечка не доказана.</a:t>
            </a:r>
          </a:p>
          <a:p xmlns:a="http://schemas.openxmlformats.org/drawingml/2006/main">
            <a:r>
              <a:t>Источник данных: Sakar &amp; Kastro (2018), UCI, https://doi.org/10.24432/C5F88Q, CC BY 4.0. Числа: results/metrics.csv и summary.json,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2:00–3:10. Доли после удаления дублей: новые 24.93%, вернувшиеся 14.09%, прочие 19.75%. Размеры групп: 1693, 10431, 81. Малую группу Other интерпретируем осторожно. Связь не доказывает причинность.</a:t>
            </a:r>
          </a:p>
          <a:p xmlns:a="http://schemas.openxmlformats.org/drawingml/2006/main">
            <a:r>
              <a:t>Источник данных: Sakar &amp; Kastro (2018), UCI, https://doi.org/10.24432/C5F88Q, CC BY 4.0. Числа: results/metrics.csv и summary.json,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3:10–4:30. Обработка числовых и категориальных признаков внутри Pipeline предотвращает обучение преобразований на тесте. Финальный тест не используется для подбора. Категориальные коды преобразуются в OneHot.</a:t>
            </a:r>
          </a:p>
          <a:p xmlns:a="http://schemas.openxmlformats.org/drawingml/2006/main">
            <a:r>
              <a:t>Источник данных: Sakar &amp; Kastro (2018), UCI, https://doi.org/10.24432/C5F88Q, CC BY 4.0. Числа: results/metrics.csv и summary.json,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4:30–5:30. Финальная test average precision: baseline 0.156, logistic 0.337, forest 0.384. Модель выбрана по CV: logistic 0.326, forest 0.376. AP не означает процент правильных прогнозов.</a:t>
            </a:r>
          </a:p>
          <a:p xmlns:a="http://schemas.openxmlformats.org/drawingml/2006/main">
            <a:r>
              <a:t>Источник данных: Sakar &amp; Kastro (2018), UCI, https://doi.org/10.24432/C5F88Q, CC BY 4.0. Числа: results/metrics.csv и summary.json,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5:30–6:30. Верхние 20% — 489 посещений. Среди них 183 покупки из 382 покупок теста. Доля покупателей 37.42% против 15.65% в среднем. Это покрывает 47.9% покупателей. Денежный эффект и влияние скидок не проверены.</a:t>
            </a:r>
          </a:p>
          <a:p xmlns:a="http://schemas.openxmlformats.org/drawingml/2006/main">
            <a:r>
              <a:t>Источник данных: Sakar &amp; Kastro (2018), UCI, https://doi.org/10.24432/C5F88Q, CC BY 4.0. Числа: results/metrics.csv и summary.json,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6:30–8:30. Открой Streamlit. Покажи вкладки Анализ, Модели и Демонстрация. Выбери пример, нажми Рассчитать оценку. Это не откалиброванная вероятность. 8:30–10:00. Вывод: ранжирование лучше случайного, но при пороге 0.5 покупок находится мало. Для реального использования нужны данные до покупки, временная проверка, калибровка и A/B-тест действий.</a:t>
            </a:r>
          </a:p>
          <a:p xmlns:a="http://schemas.openxmlformats.org/drawingml/2006/main">
            <a:r>
              <a:t>Источник данных: Sakar &amp; Kastro (2018), UCI, https://doi.org/10.24432/C5F88Q, CC BY 4.0. Числа: results/metrics.csv и summary.json, seed=42.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26d94349b45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6ec4c32fe4a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4efff2bf442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c246ae75242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44f11ec6c41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64ace61f240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7DC8E2-0E2A-420A-89B0-1D05957E9B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39B0FAB-AF60-4134-8B55-ED4AFA35B0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FFF181-0518-4128-9909-00FD14400E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89075A-8806-471C-9AA3-41D04047B2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55EDA5-482F-4FE6-8F2E-4C4025EAE9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1EE300-9617-4EB1-A1C5-A91B0EF2C3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8511DF-FEDF-4E49-B544-1AF01D3C33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D04781-BF02-48AE-9DB4-943066C7D7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1D9513-1F32-42EF-ABE9-18EA5403CF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FB1411-9E39-441B-A8EC-9BA273CA76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ecb42dac7c450b" /><Relationship Type="http://schemas.openxmlformats.org/officeDocument/2006/relationships/slideLayout" Target="/ppt/slideLayouts/slideLayout1.xml" Id="Rd0d112fd30a14b39" /><Relationship Type="http://schemas.openxmlformats.org/officeDocument/2006/relationships/slideLayout" Target="/ppt/slideLayouts/slideLayout2.xml" Id="R2e4cde8c8b9f44f6" /><Relationship Type="http://schemas.openxmlformats.org/officeDocument/2006/relationships/slideLayout" Target="/ppt/slideLayouts/slideLayout3.xml" Id="R2601195638bb4d47" /><Relationship Type="http://schemas.openxmlformats.org/officeDocument/2006/relationships/slideLayout" Target="/ppt/slideLayouts/slideLayout4.xml" Id="Rfb6653317d2d476c" /><Relationship Type="http://schemas.openxmlformats.org/officeDocument/2006/relationships/slideLayout" Target="/ppt/slideLayouts/slideLayout5.xml" Id="Rbedb5655fb364646" /><Relationship Type="http://schemas.openxmlformats.org/officeDocument/2006/relationships/slideLayout" Target="/ppt/slideLayouts/slideLayout6.xml" Id="Ra945c277e3434e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d112fd30a14b39"/>
    <p:sldLayoutId xmlns:r="http://schemas.openxmlformats.org/officeDocument/2006/relationships" id="2147483650" r:id="R2e4cde8c8b9f44f6"/>
    <p:sldLayoutId xmlns:r="http://schemas.openxmlformats.org/officeDocument/2006/relationships" id="2147483651" r:id="R2601195638bb4d47"/>
    <p:sldLayoutId xmlns:r="http://schemas.openxmlformats.org/officeDocument/2006/relationships" id="2147483652" r:id="Rfb6653317d2d476c"/>
    <p:sldLayoutId xmlns:r="http://schemas.openxmlformats.org/officeDocument/2006/relationships" id="2147483653" r:id="Rbedb5655fb364646"/>
    <p:sldLayoutId xmlns:r="http://schemas.openxmlformats.org/officeDocument/2006/relationships" id="2147483654" r:id="Ra945c277e3434e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fdaa92a664766" /><Relationship Type="http://schemas.openxmlformats.org/officeDocument/2006/relationships/notesSlide" Target="/ppt/notesSlides/notesSlide1.xml" Id="Rda55c324617145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ab9169f004c73" /><Relationship Type="http://schemas.openxmlformats.org/officeDocument/2006/relationships/notesSlide" Target="/ppt/notesSlides/notesSlide2.xml" Id="R3562f5e8f24c4d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eb05aff9e4397" /><Relationship Type="http://schemas.openxmlformats.org/officeDocument/2006/relationships/chart" Target="/ppt/slides/charts/chart1.xml" Id="R68e53c5a5b6d4150" /><Relationship Type="http://schemas.openxmlformats.org/officeDocument/2006/relationships/notesSlide" Target="/ppt/notesSlides/notesSlide3.xml" Id="R98c171e85ed04a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4ddef921484147" /><Relationship Type="http://schemas.openxmlformats.org/officeDocument/2006/relationships/notesSlide" Target="/ppt/notesSlides/notesSlide4.xml" Id="R01d50c7fcdcf41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0c099e4c34444" /><Relationship Type="http://schemas.openxmlformats.org/officeDocument/2006/relationships/chart" Target="/ppt/slides/charts/chart2.xml" Id="R84fc0684445c4eb1" /><Relationship Type="http://schemas.openxmlformats.org/officeDocument/2006/relationships/notesSlide" Target="/ppt/notesSlides/notesSlide5.xml" Id="R8435c113951b42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ca5723c8f445f9" /><Relationship Type="http://schemas.openxmlformats.org/officeDocument/2006/relationships/chart" Target="/ppt/slides/charts/chart3.xml" Id="R75f1ca1818474a43" /><Relationship Type="http://schemas.openxmlformats.org/officeDocument/2006/relationships/notesSlide" Target="/ppt/notesSlides/notesSlide6.xml" Id="R3d91e32f047346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a72fc4fdfe4160" /><Relationship Type="http://schemas.openxmlformats.org/officeDocument/2006/relationships/notesSlide" Target="/ppt/notesSlides/notesSlide7.xml" Id="R5745f4023c3045e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Доля покупок, %</c:v>
          </c:tx>
          <c:spPr>
            <a:solidFill xmlns:a="http://schemas.openxmlformats.org/drawingml/2006/main">
              <a:srgbClr val="0D9488"/>
            </a:solidFill>
          </c:spPr>
          <c:invertIfNegative val="0"/>
          <c:cat>
            <c:strLit>
              <c:ptCount val="3"/>
              <c:pt idx="0">
                <c:v>Новые (1693)</c:v>
              </c:pt>
              <c:pt idx="1">
                <c:v>Вернувшиеся (10431)</c:v>
              </c:pt>
              <c:pt idx="2">
                <c:v>Прочие (81)</c:v>
              </c:pt>
            </c:strLit>
          </c:cat>
          <c:val>
            <c:numLit>
              <c:formatCode>0.0</c:formatCode>
              <c:ptCount val="3"/>
              <c:pt idx="0">
                <c:v>24.93</c:v>
              </c:pt>
              <c:pt idx="1">
                <c:v>14.09</c:v>
              </c:pt>
              <c:pt idx="2">
                <c:v>19.75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Average precision</c:v>
          </c:tx>
          <c:spPr>
            <a:solidFill xmlns:a="http://schemas.openxmlformats.org/drawingml/2006/main">
              <a:srgbClr val="0D9488"/>
            </a:solidFill>
          </c:spPr>
          <c:invertIfNegative val="0"/>
          <c:cat>
            <c:strLit>
              <c:ptCount val="3"/>
              <c:pt idx="0">
                <c:v>Baseline</c:v>
              </c:pt>
              <c:pt idx="1">
                <c:v>Логистическая регрессия</c:v>
              </c:pt>
              <c:pt idx="2">
                <c:v>Случайный лес</c:v>
              </c:pt>
            </c:strLit>
          </c:cat>
          <c:val>
            <c:numLit>
              <c:formatCode>0.0</c:formatCode>
              <c:ptCount val="3"/>
              <c:pt idx="0">
                <c:v>0.156</c:v>
              </c:pt>
              <c:pt idx="1">
                <c:v>0.337</c:v>
              </c:pt>
              <c:pt idx="2">
                <c:v>0.384</c:v>
              </c:pt>
            </c:numLit>
          </c:val>
        </c:ser>
        <c:dLbls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Доля покупок, %</c:v>
          </c:tx>
          <c:spPr>
            <a:solidFill xmlns:a="http://schemas.openxmlformats.org/drawingml/2006/main">
              <a:srgbClr val="0D9488"/>
            </a:solidFill>
          </c:spPr>
          <c:invertIfNegative val="0"/>
          <c:cat>
            <c:strLit>
              <c:ptCount val="2"/>
              <c:pt idx="0">
                <c:v>Средняя доля на тесте</c:v>
              </c:pt>
              <c:pt idx="1">
                <c:v>Верхние 20% по модели</c:v>
              </c:pt>
            </c:strLit>
          </c:cat>
          <c:val>
            <c:numLit>
              <c:formatCode>0.0</c:formatCode>
              <c:ptCount val="2"/>
              <c:pt idx="0">
                <c:v>15.65</c:v>
              </c:pt>
              <c:pt idx="1">
                <c:v>37.42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5A2E3-AC1D-4539-9055-C99AB7B7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554"/>
                </a:solidFill>
              </a:defRPr>
            </a:pPr>
            <a:r>
              <a:rPr sz="3300" b="1">
                <a:solidFill>
                  <a:srgbClr val="172554"/>
                </a:solidFill>
              </a:rPr>
              <a:t>Какие посещения заканчиваются покупкой?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56350-8E1D-4650-9F01-E31F31AD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Анализ поведения посетителей интернет-магазина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Индивидуальный capstone по Data Science</a:t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Demo Day · 15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728732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A1FFF-5BC5-42D3-9474-9DE1F47C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554"/>
                </a:solidFill>
              </a:defRPr>
            </a:pPr>
            <a:r>
              <a:rPr sz="3300" b="1">
                <a:solidFill>
                  <a:srgbClr val="172554"/>
                </a:solidFill>
              </a:rPr>
              <a:t>Бизнес-задача и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27E7D-D8EC-4F58-AF3B-610C9030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Вопрос: сколько покупателей попадёт в 20% посещений</a:t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с самым высоким прогнозом?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UCI: 12 330 посещений за один год</a:t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125 полных дублей удалены, пропусков нет</a:t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Revenue: покупка состоялась или нет</a:t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PageValues исключён из-за риска утечки</a:t>
            </a:r>
          </a:p>
        </p:txBody>
      </p:sp>
    </p:spTree>
    <p:extLst>
      <p:ext uri="{BB962C8B-B14F-4D97-AF65-F5344CB8AC3E}">
        <p14:creationId xmlns:p14="http://schemas.microsoft.com/office/powerpoint/2010/main" val="5025251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719A5-CE42-431F-90D5-B79CC908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554"/>
                </a:solidFill>
              </a:defRPr>
            </a:pPr>
            <a:r>
              <a:rPr sz="3300" b="1">
                <a:solidFill>
                  <a:srgbClr val="172554"/>
                </a:solidFill>
              </a:rPr>
              <a:t>Новые посетители чаще покупают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013EB-A5C1-49BE-8A0F-9E2F4E3A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554"/>
                </a:solidFill>
              </a:defRPr>
            </a:pPr>
            <a:r>
              <a:rPr sz="1650" b="0">
                <a:solidFill>
                  <a:srgbClr val="172554"/>
                </a:solidFill>
              </a:rPr>
              <a:t>Доля покупок, %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16E6737-F6DE-49D5-A861-8DC5B3CDEC45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e53c5a5b6d415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83F54-E288-4617-B855-3A175ECA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554"/>
                </a:solidFill>
              </a:defRPr>
            </a:pPr>
            <a:r>
              <a:rPr sz="1950" b="0">
                <a:solidFill>
                  <a:srgbClr val="172554"/>
                </a:solidFill>
              </a:rPr>
              <a:t>Разный размер групп. Наблюдаемая связь не доказывает причину.</a:t>
            </a:r>
          </a:p>
        </p:txBody>
      </p:sp>
    </p:spTree>
    <p:extLst>
      <p:ext uri="{BB962C8B-B14F-4D97-AF65-F5344CB8AC3E}">
        <p14:creationId xmlns:p14="http://schemas.microsoft.com/office/powerpoint/2010/main" val="794280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0E121-F7CC-422B-95A1-D97E99C0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554"/>
                </a:solidFill>
              </a:defRPr>
            </a:pPr>
            <a:r>
              <a:rPr sz="3300" b="1">
                <a:solidFill>
                  <a:srgbClr val="172554"/>
                </a:solidFill>
              </a:rPr>
              <a:t>Обучение и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8002A-CED1-4851-BBFA-08BC9A53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9 764 посещения для обучения, 2 441 для теста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Baseline: одинаковая оценка для всех</a:t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Логистическая регрессия: простой линейный подход</a:t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Случайный лес: сочетание деревьев решений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Подбор параметров на 3 частях обучающих данных</a:t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Выбор модели по average precision на CV</a:t>
            </a:r>
          </a:p>
        </p:txBody>
      </p:sp>
    </p:spTree>
    <p:extLst>
      <p:ext uri="{BB962C8B-B14F-4D97-AF65-F5344CB8AC3E}">
        <p14:creationId xmlns:p14="http://schemas.microsoft.com/office/powerpoint/2010/main" val="6146038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E9E47-9CD1-4464-9FB0-95C38F5C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554"/>
                </a:solidFill>
              </a:defRPr>
            </a:pPr>
            <a:r>
              <a:rPr sz="3300" b="1">
                <a:solidFill>
                  <a:srgbClr val="172554"/>
                </a:solidFill>
              </a:rPr>
              <a:t>Случайный лес лучше ранжирует посещения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907C1-698E-485F-ABA1-E004798C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554"/>
                </a:solidFill>
              </a:defRPr>
            </a:pPr>
            <a:r>
              <a:rPr sz="1650" b="0">
                <a:solidFill>
                  <a:srgbClr val="172554"/>
                </a:solidFill>
              </a:rPr>
              <a:t>Average precision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9CF8E3F-ADC0-4C92-AE04-6105ACC242E7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fc0684445c4eb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02B53-A140-44C4-BFBA-E295F1A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554"/>
                </a:solidFill>
              </a:defRPr>
            </a:pPr>
            <a:r>
              <a:rPr sz="1950" b="0">
                <a:solidFill>
                  <a:srgbClr val="172554"/>
                </a:solidFill>
              </a:rPr>
              <a:t>Test AP: 0,156 / 0,337 / 0,384. Модель выбрана по CV.</a:t>
            </a:r>
          </a:p>
        </p:txBody>
      </p:sp>
    </p:spTree>
    <p:extLst>
      <p:ext uri="{BB962C8B-B14F-4D97-AF65-F5344CB8AC3E}">
        <p14:creationId xmlns:p14="http://schemas.microsoft.com/office/powerpoint/2010/main" val="1983057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8D2F3-0024-4E74-B508-A020F5FA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554"/>
                </a:solidFill>
              </a:defRPr>
            </a:pPr>
            <a:r>
              <a:rPr sz="3300" b="1">
                <a:solidFill>
                  <a:srgbClr val="172554"/>
                </a:solidFill>
              </a:rPr>
              <a:t>В выбранной группе доля покупок выше в 2,39 раза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35A25-EC86-47AC-9A93-F42BF2BD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554"/>
                </a:solidFill>
              </a:defRPr>
            </a:pPr>
            <a:r>
              <a:rPr sz="1650" b="0">
                <a:solidFill>
                  <a:srgbClr val="172554"/>
                </a:solidFill>
              </a:rPr>
              <a:t>Доля покупок, %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E3B23CFE-87E8-4BC2-8DA1-FFCFDD147879}"/>
              </a:ext>
            </a:extLst>
          </p:cNvPr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f1ca1818474a4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56670-DB26-40BC-AD67-66CE3961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554"/>
                </a:solidFill>
              </a:defRPr>
            </a:pPr>
            <a:r>
              <a:rPr sz="1950" b="0">
                <a:solidFill>
                  <a:srgbClr val="172554"/>
                </a:solidFill>
              </a:rPr>
              <a:t>489 посещений в группе, 183 покупки. Найдено 47,9% покупателей теста.</a:t>
            </a:r>
          </a:p>
        </p:txBody>
      </p:sp>
    </p:spTree>
    <p:extLst>
      <p:ext uri="{BB962C8B-B14F-4D97-AF65-F5344CB8AC3E}">
        <p14:creationId xmlns:p14="http://schemas.microsoft.com/office/powerpoint/2010/main" val="538944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738F1-59F3-49A6-ABB8-BF4ABB0A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554"/>
                </a:solidFill>
              </a:defRPr>
            </a:pPr>
            <a:r>
              <a:rPr sz="3300" b="1">
                <a:solidFill>
                  <a:srgbClr val="172554"/>
                </a:solidFill>
              </a:rPr>
              <a:t>Демонстрация и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E38BA-DD6E-4DD6-8706-CCC77EC0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554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Streamlit: анализ, сравнение моделей, пример оценки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При пороге 0,5 recall всего 5,8%</a:t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Для проекта полезнее ранжирование посещений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Данные старые, за один год, магазин неизвестен</a:t>
            </a:r>
          </a:p>
          <a:p xmlns:a="http://schemas.openxmlformats.org/drawingml/2006/main">
            <a:pPr>
              <a:defRPr sz="2250" b="0">
                <a:solidFill>
                  <a:srgbClr val="172554"/>
                </a:solidFill>
              </a:defRPr>
            </a:pPr>
            <a:r>
              <a:rPr sz="2250" b="0">
                <a:solidFill>
                  <a:srgbClr val="172554"/>
                </a:solidFill>
              </a:rPr>
              <a:t>Следующий шаг: данные магазина и временная проверка</a:t>
            </a:r>
          </a:p>
        </p:txBody>
      </p:sp>
    </p:spTree>
    <p:extLst>
      <p:ext uri="{BB962C8B-B14F-4D97-AF65-F5344CB8AC3E}">
        <p14:creationId xmlns:p14="http://schemas.microsoft.com/office/powerpoint/2010/main" val="1731634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2026-10-14T16:12:45.3970000Z</dcterms:created>
  <dcterms:modified xsi:type="dcterms:W3CDTF">2026-10-14T16:12:45.3970000Z</dcterms:modified>
</coreProperties>
</file>